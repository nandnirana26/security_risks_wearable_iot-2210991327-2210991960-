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76" r:id="rId4"/>
    <p:sldId id="277" r:id="rId5"/>
    <p:sldId id="286" r:id="rId6"/>
    <p:sldId id="279" r:id="rId7"/>
    <p:sldId id="280" r:id="rId8"/>
    <p:sldId id="281" r:id="rId9"/>
    <p:sldId id="283" r:id="rId10"/>
    <p:sldId id="284" r:id="rId11"/>
    <p:sldId id="285" r:id="rId12"/>
    <p:sldId id="274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95AF-D40F-424D-9DFD-C72EA3D897A4}" v="96" dt="2026-03-25T21:52:52.1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5"/>
    <p:restoredTop sz="96213"/>
  </p:normalViewPr>
  <p:slideViewPr>
    <p:cSldViewPr>
      <p:cViewPr varScale="1">
        <p:scale>
          <a:sx n="154" d="100"/>
          <a:sy n="154" d="100"/>
        </p:scale>
        <p:origin x="400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oorva Jindal" userId="d9649a07-4cdb-4710-b705-83726890c9e2" providerId="ADAL" clId="{7CE81C48-F3A9-56FA-8BC3-7DDB428D9ACC}"/>
    <pc:docChg chg="undo custSel addSld delSld modSld">
      <pc:chgData name="Apoorva Jindal" userId="d9649a07-4cdb-4710-b705-83726890c9e2" providerId="ADAL" clId="{7CE81C48-F3A9-56FA-8BC3-7DDB428D9ACC}" dt="2026-03-25T21:59:35.541" v="794" actId="20577"/>
      <pc:docMkLst>
        <pc:docMk/>
      </pc:docMkLst>
      <pc:sldChg chg="modSp mod">
        <pc:chgData name="Apoorva Jindal" userId="d9649a07-4cdb-4710-b705-83726890c9e2" providerId="ADAL" clId="{7CE81C48-F3A9-56FA-8BC3-7DDB428D9ACC}" dt="2026-03-25T20:47:54.402" v="32" actId="20577"/>
        <pc:sldMkLst>
          <pc:docMk/>
          <pc:sldMk cId="0" sldId="256"/>
        </pc:sldMkLst>
        <pc:spChg chg="mod">
          <ac:chgData name="Apoorva Jindal" userId="d9649a07-4cdb-4710-b705-83726890c9e2" providerId="ADAL" clId="{7CE81C48-F3A9-56FA-8BC3-7DDB428D9ACC}" dt="2026-03-25T20:47:38.193" v="2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poorva Jindal" userId="d9649a07-4cdb-4710-b705-83726890c9e2" providerId="ADAL" clId="{7CE81C48-F3A9-56FA-8BC3-7DDB428D9ACC}" dt="2026-03-25T20:47:54.402" v="3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poorva Jindal" userId="d9649a07-4cdb-4710-b705-83726890c9e2" providerId="ADAL" clId="{7CE81C48-F3A9-56FA-8BC3-7DDB428D9ACC}" dt="2026-03-25T20:46:26.701" v="14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Apoorva Jindal" userId="d9649a07-4cdb-4710-b705-83726890c9e2" providerId="ADAL" clId="{7CE81C48-F3A9-56FA-8BC3-7DDB428D9ACC}" dt="2026-03-25T21:59:35.541" v="794" actId="20577"/>
        <pc:sldMkLst>
          <pc:docMk/>
          <pc:sldMk cId="693958526" sldId="275"/>
        </pc:sldMkLst>
        <pc:spChg chg="add mod">
          <ac:chgData name="Apoorva Jindal" userId="d9649a07-4cdb-4710-b705-83726890c9e2" providerId="ADAL" clId="{7CE81C48-F3A9-56FA-8BC3-7DDB428D9ACC}" dt="2026-03-25T21:46:16.295" v="699" actId="1076"/>
          <ac:spMkLst>
            <pc:docMk/>
            <pc:sldMk cId="693958526" sldId="275"/>
            <ac:spMk id="4" creationId="{D4E4DD35-52D1-2474-0221-65DD65751AB1}"/>
          </ac:spMkLst>
        </pc:spChg>
        <pc:spChg chg="mod">
          <ac:chgData name="Apoorva Jindal" userId="d9649a07-4cdb-4710-b705-83726890c9e2" providerId="ADAL" clId="{7CE81C48-F3A9-56FA-8BC3-7DDB428D9ACC}" dt="2026-03-25T20:51:52.382" v="158" actId="1076"/>
          <ac:spMkLst>
            <pc:docMk/>
            <pc:sldMk cId="693958526" sldId="275"/>
            <ac:spMk id="5" creationId="{DC098F77-57DF-A731-A102-C936CD5EA12B}"/>
          </ac:spMkLst>
        </pc:spChg>
        <pc:spChg chg="mod">
          <ac:chgData name="Apoorva Jindal" userId="d9649a07-4cdb-4710-b705-83726890c9e2" providerId="ADAL" clId="{7CE81C48-F3A9-56FA-8BC3-7DDB428D9ACC}" dt="2026-03-25T21:59:35.541" v="794" actId="20577"/>
          <ac:spMkLst>
            <pc:docMk/>
            <pc:sldMk cId="693958526" sldId="275"/>
            <ac:spMk id="11" creationId="{9856E8C6-4C2E-68BD-7D2B-37C31FD074AB}"/>
          </ac:spMkLst>
        </pc:spChg>
        <pc:graphicFrameChg chg="add mod modGraphic">
          <ac:chgData name="Apoorva Jindal" userId="d9649a07-4cdb-4710-b705-83726890c9e2" providerId="ADAL" clId="{7CE81C48-F3A9-56FA-8BC3-7DDB428D9ACC}" dt="2026-03-25T21:43:31.432" v="561" actId="1076"/>
          <ac:graphicFrameMkLst>
            <pc:docMk/>
            <pc:sldMk cId="693958526" sldId="275"/>
            <ac:graphicFrameMk id="2" creationId="{9ED55291-75E1-58E6-398B-1F3B1D75EDBF}"/>
          </ac:graphicFrameMkLst>
        </pc:graphicFrameChg>
      </pc:sldChg>
      <pc:sldChg chg="addSp delSp modSp mod">
        <pc:chgData name="Apoorva Jindal" userId="d9649a07-4cdb-4710-b705-83726890c9e2" providerId="ADAL" clId="{7CE81C48-F3A9-56FA-8BC3-7DDB428D9ACC}" dt="2026-03-25T21:52:52.139" v="791"/>
        <pc:sldMkLst>
          <pc:docMk/>
          <pc:sldMk cId="3895525741" sldId="276"/>
        </pc:sldMkLst>
        <pc:spChg chg="mod">
          <ac:chgData name="Apoorva Jindal" userId="d9649a07-4cdb-4710-b705-83726890c9e2" providerId="ADAL" clId="{7CE81C48-F3A9-56FA-8BC3-7DDB428D9ACC}" dt="2026-03-25T20:52:03.785" v="160" actId="1076"/>
          <ac:spMkLst>
            <pc:docMk/>
            <pc:sldMk cId="3895525741" sldId="276"/>
            <ac:spMk id="2" creationId="{B46CF519-4B43-74F7-EFF0-8C9F76BE52CA}"/>
          </ac:spMkLst>
        </pc:spChg>
        <pc:graphicFrameChg chg="del">
          <ac:chgData name="Apoorva Jindal" userId="d9649a07-4cdb-4710-b705-83726890c9e2" providerId="ADAL" clId="{7CE81C48-F3A9-56FA-8BC3-7DDB428D9ACC}" dt="2026-03-25T20:53:10.393" v="163" actId="478"/>
          <ac:graphicFrameMkLst>
            <pc:docMk/>
            <pc:sldMk cId="3895525741" sldId="276"/>
            <ac:graphicFrameMk id="4" creationId="{97AB1E19-EE50-E3D1-2BF9-B2E6759BD452}"/>
          </ac:graphicFrameMkLst>
        </pc:graphicFrameChg>
        <pc:graphicFrameChg chg="add mod">
          <ac:chgData name="Apoorva Jindal" userId="d9649a07-4cdb-4710-b705-83726890c9e2" providerId="ADAL" clId="{7CE81C48-F3A9-56FA-8BC3-7DDB428D9ACC}" dt="2026-03-25T21:52:52.139" v="791"/>
          <ac:graphicFrameMkLst>
            <pc:docMk/>
            <pc:sldMk cId="3895525741" sldId="276"/>
            <ac:graphicFrameMk id="5" creationId="{328C314F-AD83-0E9D-AAC1-974CC3B7152E}"/>
          </ac:graphicFrameMkLst>
        </pc:graphicFrameChg>
      </pc:sldChg>
      <pc:sldChg chg="addSp delSp modSp mod">
        <pc:chgData name="Apoorva Jindal" userId="d9649a07-4cdb-4710-b705-83726890c9e2" providerId="ADAL" clId="{7CE81C48-F3A9-56FA-8BC3-7DDB428D9ACC}" dt="2026-03-25T21:17:17.175" v="272" actId="20577"/>
        <pc:sldMkLst>
          <pc:docMk/>
          <pc:sldMk cId="801024807" sldId="277"/>
        </pc:sldMkLst>
        <pc:spChg chg="del">
          <ac:chgData name="Apoorva Jindal" userId="d9649a07-4cdb-4710-b705-83726890c9e2" providerId="ADAL" clId="{7CE81C48-F3A9-56FA-8BC3-7DDB428D9ACC}" dt="2026-03-25T20:53:29.665" v="164" actId="478"/>
          <ac:spMkLst>
            <pc:docMk/>
            <pc:sldMk cId="801024807" sldId="277"/>
            <ac:spMk id="6" creationId="{005F35C9-6DB4-1005-868B-FAB3D6D77DC1}"/>
          </ac:spMkLst>
        </pc:spChg>
        <pc:spChg chg="mod">
          <ac:chgData name="Apoorva Jindal" userId="d9649a07-4cdb-4710-b705-83726890c9e2" providerId="ADAL" clId="{7CE81C48-F3A9-56FA-8BC3-7DDB428D9ACC}" dt="2026-03-25T21:17:17.175" v="272" actId="20577"/>
          <ac:spMkLst>
            <pc:docMk/>
            <pc:sldMk cId="801024807" sldId="277"/>
            <ac:spMk id="7" creationId="{AADAE11B-E978-B173-9673-80D238DC1E2F}"/>
          </ac:spMkLst>
        </pc:spChg>
        <pc:graphicFrameChg chg="add del mod">
          <ac:chgData name="Apoorva Jindal" userId="d9649a07-4cdb-4710-b705-83726890c9e2" providerId="ADAL" clId="{7CE81C48-F3A9-56FA-8BC3-7DDB428D9ACC}" dt="2026-03-25T20:55:13.257" v="167" actId="478"/>
          <ac:graphicFrameMkLst>
            <pc:docMk/>
            <pc:sldMk cId="801024807" sldId="277"/>
            <ac:graphicFrameMk id="2" creationId="{DF26FE6F-BEA8-E756-5FAA-09D6B47EF4A7}"/>
          </ac:graphicFrameMkLst>
        </pc:graphicFrameChg>
        <pc:graphicFrameChg chg="add del">
          <ac:chgData name="Apoorva Jindal" userId="d9649a07-4cdb-4710-b705-83726890c9e2" providerId="ADAL" clId="{7CE81C48-F3A9-56FA-8BC3-7DDB428D9ACC}" dt="2026-03-25T20:55:27.321" v="169" actId="478"/>
          <ac:graphicFrameMkLst>
            <pc:docMk/>
            <pc:sldMk cId="801024807" sldId="277"/>
            <ac:graphicFrameMk id="3" creationId="{5D2F33C5-7142-AD49-0A5A-054F0740D050}"/>
          </ac:graphicFrameMkLst>
        </pc:graphicFrameChg>
        <pc:graphicFrameChg chg="add mod">
          <ac:chgData name="Apoorva Jindal" userId="d9649a07-4cdb-4710-b705-83726890c9e2" providerId="ADAL" clId="{7CE81C48-F3A9-56FA-8BC3-7DDB428D9ACC}" dt="2026-03-25T21:16:40.490" v="253" actId="20577"/>
          <ac:graphicFrameMkLst>
            <pc:docMk/>
            <pc:sldMk cId="801024807" sldId="277"/>
            <ac:graphicFrameMk id="4" creationId="{A5C93D18-451B-874C-CD81-DBCA2B93A2EC}"/>
          </ac:graphicFrameMkLst>
        </pc:graphicFrameChg>
        <pc:graphicFrameChg chg="del topLvl modGraphic">
          <ac:chgData name="Apoorva Jindal" userId="d9649a07-4cdb-4710-b705-83726890c9e2" providerId="ADAL" clId="{7CE81C48-F3A9-56FA-8BC3-7DDB428D9ACC}" dt="2026-03-25T21:11:18.367" v="222" actId="478"/>
          <ac:graphicFrameMkLst>
            <pc:docMk/>
            <pc:sldMk cId="801024807" sldId="277"/>
            <ac:graphicFrameMk id="10" creationId="{4D0CD50D-291A-1B22-3A49-BD68BB451D7A}"/>
          </ac:graphicFrameMkLst>
        </pc:graphicFrameChg>
      </pc:sldChg>
      <pc:sldChg chg="del">
        <pc:chgData name="Apoorva Jindal" userId="d9649a07-4cdb-4710-b705-83726890c9e2" providerId="ADAL" clId="{7CE81C48-F3A9-56FA-8BC3-7DDB428D9ACC}" dt="2026-03-25T21:24:51.837" v="389" actId="2696"/>
        <pc:sldMkLst>
          <pc:docMk/>
          <pc:sldMk cId="374059222" sldId="278"/>
        </pc:sldMkLst>
      </pc:sldChg>
      <pc:sldChg chg="modSp mod">
        <pc:chgData name="Apoorva Jindal" userId="d9649a07-4cdb-4710-b705-83726890c9e2" providerId="ADAL" clId="{7CE81C48-F3A9-56FA-8BC3-7DDB428D9ACC}" dt="2026-03-25T21:25:07.211" v="391" actId="1076"/>
        <pc:sldMkLst>
          <pc:docMk/>
          <pc:sldMk cId="2323488080" sldId="279"/>
        </pc:sldMkLst>
        <pc:spChg chg="mod">
          <ac:chgData name="Apoorva Jindal" userId="d9649a07-4cdb-4710-b705-83726890c9e2" providerId="ADAL" clId="{7CE81C48-F3A9-56FA-8BC3-7DDB428D9ACC}" dt="2026-03-25T21:25:07.211" v="391" actId="1076"/>
          <ac:spMkLst>
            <pc:docMk/>
            <pc:sldMk cId="2323488080" sldId="279"/>
            <ac:spMk id="2" creationId="{B60E7156-0F27-0F0F-E51E-046275D812C1}"/>
          </ac:spMkLst>
        </pc:spChg>
      </pc:sldChg>
      <pc:sldChg chg="addSp delSp modSp mod">
        <pc:chgData name="Apoorva Jindal" userId="d9649a07-4cdb-4710-b705-83726890c9e2" providerId="ADAL" clId="{7CE81C48-F3A9-56FA-8BC3-7DDB428D9ACC}" dt="2026-03-25T21:46:57.279" v="706" actId="1076"/>
        <pc:sldMkLst>
          <pc:docMk/>
          <pc:sldMk cId="2464814899" sldId="280"/>
        </pc:sldMkLst>
        <pc:spChg chg="mod">
          <ac:chgData name="Apoorva Jindal" userId="d9649a07-4cdb-4710-b705-83726890c9e2" providerId="ADAL" clId="{7CE81C48-F3A9-56FA-8BC3-7DDB428D9ACC}" dt="2026-03-25T21:40:25.079" v="502" actId="20577"/>
          <ac:spMkLst>
            <pc:docMk/>
            <pc:sldMk cId="2464814899" sldId="280"/>
            <ac:spMk id="3" creationId="{B77B662A-08C9-B92C-706E-97149E53F943}"/>
          </ac:spMkLst>
        </pc:spChg>
        <pc:spChg chg="add mod">
          <ac:chgData name="Apoorva Jindal" userId="d9649a07-4cdb-4710-b705-83726890c9e2" providerId="ADAL" clId="{7CE81C48-F3A9-56FA-8BC3-7DDB428D9ACC}" dt="2026-03-25T21:46:57.279" v="706" actId="1076"/>
          <ac:spMkLst>
            <pc:docMk/>
            <pc:sldMk cId="2464814899" sldId="280"/>
            <ac:spMk id="6" creationId="{4EDA9333-7AA5-1878-CD83-78EAB674F098}"/>
          </ac:spMkLst>
        </pc:spChg>
        <pc:spChg chg="del">
          <ac:chgData name="Apoorva Jindal" userId="d9649a07-4cdb-4710-b705-83726890c9e2" providerId="ADAL" clId="{7CE81C48-F3A9-56FA-8BC3-7DDB428D9ACC}" dt="2026-03-25T21:34:42.989" v="446" actId="478"/>
          <ac:spMkLst>
            <pc:docMk/>
            <pc:sldMk cId="2464814899" sldId="280"/>
            <ac:spMk id="13" creationId="{02433FDF-7248-DE69-32DD-6006886F10F3}"/>
          </ac:spMkLst>
        </pc:spChg>
        <pc:spChg chg="del">
          <ac:chgData name="Apoorva Jindal" userId="d9649a07-4cdb-4710-b705-83726890c9e2" providerId="ADAL" clId="{7CE81C48-F3A9-56FA-8BC3-7DDB428D9ACC}" dt="2026-03-25T21:46:40.099" v="704" actId="478"/>
          <ac:spMkLst>
            <pc:docMk/>
            <pc:sldMk cId="2464814899" sldId="280"/>
            <ac:spMk id="19" creationId="{B1623F33-FF33-6299-C9EA-1678C90A9DF2}"/>
          </ac:spMkLst>
        </pc:spChg>
        <pc:graphicFrameChg chg="add mod">
          <ac:chgData name="Apoorva Jindal" userId="d9649a07-4cdb-4710-b705-83726890c9e2" providerId="ADAL" clId="{7CE81C48-F3A9-56FA-8BC3-7DDB428D9ACC}" dt="2026-03-25T21:37:11.257" v="496"/>
          <ac:graphicFrameMkLst>
            <pc:docMk/>
            <pc:sldMk cId="2464814899" sldId="280"/>
            <ac:graphicFrameMk id="4" creationId="{48C63D67-8460-8C44-1300-44E32DD606B4}"/>
          </ac:graphicFrameMkLst>
        </pc:graphicFrameChg>
        <pc:graphicFrameChg chg="mod modGraphic">
          <ac:chgData name="Apoorva Jindal" userId="d9649a07-4cdb-4710-b705-83726890c9e2" providerId="ADAL" clId="{7CE81C48-F3A9-56FA-8BC3-7DDB428D9ACC}" dt="2026-03-25T21:35:18.500" v="473" actId="1037"/>
          <ac:graphicFrameMkLst>
            <pc:docMk/>
            <pc:sldMk cId="2464814899" sldId="280"/>
            <ac:graphicFrameMk id="7" creationId="{AC28E1DB-4635-5626-CAF5-0E003398559B}"/>
          </ac:graphicFrameMkLst>
        </pc:graphicFrameChg>
        <pc:graphicFrameChg chg="del">
          <ac:chgData name="Apoorva Jindal" userId="d9649a07-4cdb-4710-b705-83726890c9e2" providerId="ADAL" clId="{7CE81C48-F3A9-56FA-8BC3-7DDB428D9ACC}" dt="2026-03-25T21:28:32.841" v="399" actId="478"/>
          <ac:graphicFrameMkLst>
            <pc:docMk/>
            <pc:sldMk cId="2464814899" sldId="280"/>
            <ac:graphicFrameMk id="9" creationId="{6F4F92BC-491F-9ECA-2332-045DF64B7109}"/>
          </ac:graphicFrameMkLst>
        </pc:graphicFrameChg>
        <pc:graphicFrameChg chg="del">
          <ac:chgData name="Apoorva Jindal" userId="d9649a07-4cdb-4710-b705-83726890c9e2" providerId="ADAL" clId="{7CE81C48-F3A9-56FA-8BC3-7DDB428D9ACC}" dt="2026-03-25T21:28:40.231" v="400" actId="478"/>
          <ac:graphicFrameMkLst>
            <pc:docMk/>
            <pc:sldMk cId="2464814899" sldId="280"/>
            <ac:graphicFrameMk id="18" creationId="{B8F50BD3-E685-C9F7-7DC2-7AD902D9059F}"/>
          </ac:graphicFrameMkLst>
        </pc:graphicFrameChg>
      </pc:sldChg>
      <pc:sldChg chg="addSp modSp mod">
        <pc:chgData name="Apoorva Jindal" userId="d9649a07-4cdb-4710-b705-83726890c9e2" providerId="ADAL" clId="{7CE81C48-F3A9-56FA-8BC3-7DDB428D9ACC}" dt="2026-03-25T21:47:24.143" v="711" actId="1076"/>
        <pc:sldMkLst>
          <pc:docMk/>
          <pc:sldMk cId="684528290" sldId="281"/>
        </pc:sldMkLst>
        <pc:spChg chg="mod">
          <ac:chgData name="Apoorva Jindal" userId="d9649a07-4cdb-4710-b705-83726890c9e2" providerId="ADAL" clId="{7CE81C48-F3A9-56FA-8BC3-7DDB428D9ACC}" dt="2026-03-25T21:41:00.704" v="507" actId="20577"/>
          <ac:spMkLst>
            <pc:docMk/>
            <pc:sldMk cId="684528290" sldId="281"/>
            <ac:spMk id="3" creationId="{A5680FDE-659E-5408-B4CA-DA1CD048D486}"/>
          </ac:spMkLst>
        </pc:spChg>
        <pc:spChg chg="add mod">
          <ac:chgData name="Apoorva Jindal" userId="d9649a07-4cdb-4710-b705-83726890c9e2" providerId="ADAL" clId="{7CE81C48-F3A9-56FA-8BC3-7DDB428D9ACC}" dt="2026-03-25T21:47:24.143" v="711" actId="1076"/>
          <ac:spMkLst>
            <pc:docMk/>
            <pc:sldMk cId="684528290" sldId="281"/>
            <ac:spMk id="5" creationId="{F1930D69-17A5-6E78-0F62-A3C579DA7E00}"/>
          </ac:spMkLst>
        </pc:spChg>
        <pc:graphicFrameChg chg="mod modGraphic">
          <ac:chgData name="Apoorva Jindal" userId="d9649a07-4cdb-4710-b705-83726890c9e2" providerId="ADAL" clId="{7CE81C48-F3A9-56FA-8BC3-7DDB428D9ACC}" dt="2026-03-25T21:41:07.646" v="508" actId="1076"/>
          <ac:graphicFrameMkLst>
            <pc:docMk/>
            <pc:sldMk cId="684528290" sldId="281"/>
            <ac:graphicFrameMk id="6" creationId="{28B00C19-56AC-2D10-848B-CE8C8CDE3FDF}"/>
          </ac:graphicFrameMkLst>
        </pc:graphicFrameChg>
      </pc:sldChg>
      <pc:sldChg chg="addSp delSp modSp mod">
        <pc:chgData name="Apoorva Jindal" userId="d9649a07-4cdb-4710-b705-83726890c9e2" providerId="ADAL" clId="{7CE81C48-F3A9-56FA-8BC3-7DDB428D9ACC}" dt="2026-03-25T21:50:45.142" v="734" actId="27918"/>
        <pc:sldMkLst>
          <pc:docMk/>
          <pc:sldMk cId="3056147868" sldId="283"/>
        </pc:sldMkLst>
        <pc:spChg chg="mod">
          <ac:chgData name="Apoorva Jindal" userId="d9649a07-4cdb-4710-b705-83726890c9e2" providerId="ADAL" clId="{7CE81C48-F3A9-56FA-8BC3-7DDB428D9ACC}" dt="2026-03-25T21:49:17.405" v="726" actId="1076"/>
          <ac:spMkLst>
            <pc:docMk/>
            <pc:sldMk cId="3056147868" sldId="283"/>
            <ac:spMk id="3" creationId="{BB69A445-F9F1-3CCA-6094-F93EE0935F73}"/>
          </ac:spMkLst>
        </pc:spChg>
        <pc:graphicFrameChg chg="add mod">
          <ac:chgData name="Apoorva Jindal" userId="d9649a07-4cdb-4710-b705-83726890c9e2" providerId="ADAL" clId="{7CE81C48-F3A9-56FA-8BC3-7DDB428D9ACC}" dt="2026-03-25T21:48:07.100" v="716" actId="1076"/>
          <ac:graphicFrameMkLst>
            <pc:docMk/>
            <pc:sldMk cId="3056147868" sldId="283"/>
            <ac:graphicFrameMk id="4" creationId="{55E057D8-F1C2-C605-0047-BB762F6593EA}"/>
          </ac:graphicFrameMkLst>
        </pc:graphicFrameChg>
        <pc:graphicFrameChg chg="del modGraphic">
          <ac:chgData name="Apoorva Jindal" userId="d9649a07-4cdb-4710-b705-83726890c9e2" providerId="ADAL" clId="{7CE81C48-F3A9-56FA-8BC3-7DDB428D9ACC}" dt="2026-03-25T21:47:54.689" v="713" actId="478"/>
          <ac:graphicFrameMkLst>
            <pc:docMk/>
            <pc:sldMk cId="3056147868" sldId="283"/>
            <ac:graphicFrameMk id="8" creationId="{E75A1F45-F6E9-B2BB-848C-ACE0C8A36452}"/>
          </ac:graphicFrameMkLst>
        </pc:graphicFrameChg>
      </pc:sldChg>
      <pc:sldChg chg="modSp mod">
        <pc:chgData name="Apoorva Jindal" userId="d9649a07-4cdb-4710-b705-83726890c9e2" providerId="ADAL" clId="{7CE81C48-F3A9-56FA-8BC3-7DDB428D9ACC}" dt="2026-03-25T21:53:22.977" v="792" actId="20577"/>
        <pc:sldMkLst>
          <pc:docMk/>
          <pc:sldMk cId="3315453588" sldId="285"/>
        </pc:sldMkLst>
        <pc:spChg chg="mod">
          <ac:chgData name="Apoorva Jindal" userId="d9649a07-4cdb-4710-b705-83726890c9e2" providerId="ADAL" clId="{7CE81C48-F3A9-56FA-8BC3-7DDB428D9ACC}" dt="2026-03-25T21:53:22.977" v="792" actId="20577"/>
          <ac:spMkLst>
            <pc:docMk/>
            <pc:sldMk cId="3315453588" sldId="285"/>
            <ac:spMk id="3" creationId="{70EEB233-3A12-1564-3F62-83FDF22774CF}"/>
          </ac:spMkLst>
        </pc:spChg>
      </pc:sldChg>
      <pc:sldChg chg="addSp delSp modSp new mod">
        <pc:chgData name="Apoorva Jindal" userId="d9649a07-4cdb-4710-b705-83726890c9e2" providerId="ADAL" clId="{7CE81C48-F3A9-56FA-8BC3-7DDB428D9ACC}" dt="2026-03-25T21:24:43.513" v="388" actId="1076"/>
        <pc:sldMkLst>
          <pc:docMk/>
          <pc:sldMk cId="2804017969" sldId="286"/>
        </pc:sldMkLst>
        <pc:spChg chg="mod">
          <ac:chgData name="Apoorva Jindal" userId="d9649a07-4cdb-4710-b705-83726890c9e2" providerId="ADAL" clId="{7CE81C48-F3A9-56FA-8BC3-7DDB428D9ACC}" dt="2026-03-25T21:22:56.907" v="365" actId="1076"/>
          <ac:spMkLst>
            <pc:docMk/>
            <pc:sldMk cId="2804017969" sldId="286"/>
            <ac:spMk id="2" creationId="{7FB55CE2-969E-C7FB-8347-A58FD812FEFF}"/>
          </ac:spMkLst>
        </pc:spChg>
        <pc:spChg chg="del">
          <ac:chgData name="Apoorva Jindal" userId="d9649a07-4cdb-4710-b705-83726890c9e2" providerId="ADAL" clId="{7CE81C48-F3A9-56FA-8BC3-7DDB428D9ACC}" dt="2026-03-25T21:18:30.241" v="278" actId="478"/>
          <ac:spMkLst>
            <pc:docMk/>
            <pc:sldMk cId="2804017969" sldId="286"/>
            <ac:spMk id="3" creationId="{E9029472-9FEA-E0CC-D411-894908747DD3}"/>
          </ac:spMkLst>
        </pc:spChg>
        <pc:spChg chg="add mod">
          <ac:chgData name="Apoorva Jindal" userId="d9649a07-4cdb-4710-b705-83726890c9e2" providerId="ADAL" clId="{7CE81C48-F3A9-56FA-8BC3-7DDB428D9ACC}" dt="2026-03-25T21:20:25.851" v="310" actId="1036"/>
          <ac:spMkLst>
            <pc:docMk/>
            <pc:sldMk cId="2804017969" sldId="286"/>
            <ac:spMk id="4" creationId="{EE7438D8-B68C-6F9E-95D8-E804BFDD997E}"/>
          </ac:spMkLst>
        </pc:spChg>
        <pc:spChg chg="add mod">
          <ac:chgData name="Apoorva Jindal" userId="d9649a07-4cdb-4710-b705-83726890c9e2" providerId="ADAL" clId="{7CE81C48-F3A9-56FA-8BC3-7DDB428D9ACC}" dt="2026-03-25T21:20:22.479" v="308" actId="1036"/>
          <ac:spMkLst>
            <pc:docMk/>
            <pc:sldMk cId="2804017969" sldId="286"/>
            <ac:spMk id="5" creationId="{E62FBAA0-D446-0466-FEA6-4F2FE87850F8}"/>
          </ac:spMkLst>
        </pc:spChg>
        <pc:spChg chg="add del mod">
          <ac:chgData name="Apoorva Jindal" userId="d9649a07-4cdb-4710-b705-83726890c9e2" providerId="ADAL" clId="{7CE81C48-F3A9-56FA-8BC3-7DDB428D9ACC}" dt="2026-03-25T21:19:28.125" v="288" actId="478"/>
          <ac:spMkLst>
            <pc:docMk/>
            <pc:sldMk cId="2804017969" sldId="286"/>
            <ac:spMk id="6" creationId="{BD841643-E1E0-646D-0C17-7487158AD213}"/>
          </ac:spMkLst>
        </pc:spChg>
        <pc:spChg chg="add mod">
          <ac:chgData name="Apoorva Jindal" userId="d9649a07-4cdb-4710-b705-83726890c9e2" providerId="ADAL" clId="{7CE81C48-F3A9-56FA-8BC3-7DDB428D9ACC}" dt="2026-03-25T21:20:29.611" v="311" actId="1036"/>
          <ac:spMkLst>
            <pc:docMk/>
            <pc:sldMk cId="2804017969" sldId="286"/>
            <ac:spMk id="7" creationId="{0081023C-24BA-AAD6-E56A-542CEAB3CF57}"/>
          </ac:spMkLst>
        </pc:spChg>
        <pc:spChg chg="add mod">
          <ac:chgData name="Apoorva Jindal" userId="d9649a07-4cdb-4710-b705-83726890c9e2" providerId="ADAL" clId="{7CE81C48-F3A9-56FA-8BC3-7DDB428D9ACC}" dt="2026-03-25T21:21:38.727" v="325" actId="20577"/>
          <ac:spMkLst>
            <pc:docMk/>
            <pc:sldMk cId="2804017969" sldId="286"/>
            <ac:spMk id="8" creationId="{8ED4F418-9D24-ED00-AFA7-E1D324D299BA}"/>
          </ac:spMkLst>
        </pc:spChg>
        <pc:spChg chg="add mod">
          <ac:chgData name="Apoorva Jindal" userId="d9649a07-4cdb-4710-b705-83726890c9e2" providerId="ADAL" clId="{7CE81C48-F3A9-56FA-8BC3-7DDB428D9ACC}" dt="2026-03-25T21:24:26.860" v="386" actId="20578"/>
          <ac:spMkLst>
            <pc:docMk/>
            <pc:sldMk cId="2804017969" sldId="286"/>
            <ac:spMk id="9" creationId="{E688D491-CA12-1D7A-DDAA-056DA8E54B70}"/>
          </ac:spMkLst>
        </pc:spChg>
        <pc:spChg chg="add mod">
          <ac:chgData name="Apoorva Jindal" userId="d9649a07-4cdb-4710-b705-83726890c9e2" providerId="ADAL" clId="{7CE81C48-F3A9-56FA-8BC3-7DDB428D9ACC}" dt="2026-03-25T21:22:29.570" v="358" actId="122"/>
          <ac:spMkLst>
            <pc:docMk/>
            <pc:sldMk cId="2804017969" sldId="286"/>
            <ac:spMk id="10" creationId="{543831F0-1045-BADA-9139-F43D36961576}"/>
          </ac:spMkLst>
        </pc:spChg>
        <pc:spChg chg="add mod">
          <ac:chgData name="Apoorva Jindal" userId="d9649a07-4cdb-4710-b705-83726890c9e2" providerId="ADAL" clId="{7CE81C48-F3A9-56FA-8BC3-7DDB428D9ACC}" dt="2026-03-25T21:20:06.786" v="297" actId="1076"/>
          <ac:spMkLst>
            <pc:docMk/>
            <pc:sldMk cId="2804017969" sldId="286"/>
            <ac:spMk id="11" creationId="{130BA098-0AD0-613D-B5EC-C2A63BA005C1}"/>
          </ac:spMkLst>
        </pc:spChg>
        <pc:spChg chg="add mod">
          <ac:chgData name="Apoorva Jindal" userId="d9649a07-4cdb-4710-b705-83726890c9e2" providerId="ADAL" clId="{7CE81C48-F3A9-56FA-8BC3-7DDB428D9ACC}" dt="2026-03-25T21:23:30.552" v="373" actId="1076"/>
          <ac:spMkLst>
            <pc:docMk/>
            <pc:sldMk cId="2804017969" sldId="286"/>
            <ac:spMk id="12" creationId="{F62B75CF-F975-F825-AA72-AE32CC33BB2D}"/>
          </ac:spMkLst>
        </pc:spChg>
        <pc:spChg chg="add mod">
          <ac:chgData name="Apoorva Jindal" userId="d9649a07-4cdb-4710-b705-83726890c9e2" providerId="ADAL" clId="{7CE81C48-F3A9-56FA-8BC3-7DDB428D9ACC}" dt="2026-03-25T21:23:56.764" v="380" actId="1076"/>
          <ac:spMkLst>
            <pc:docMk/>
            <pc:sldMk cId="2804017969" sldId="286"/>
            <ac:spMk id="14" creationId="{3D6E37E8-0A39-F976-86BE-922C405B00F7}"/>
          </ac:spMkLst>
        </pc:spChg>
        <pc:spChg chg="add mod">
          <ac:chgData name="Apoorva Jindal" userId="d9649a07-4cdb-4710-b705-83726890c9e2" providerId="ADAL" clId="{7CE81C48-F3A9-56FA-8BC3-7DDB428D9ACC}" dt="2026-03-25T21:24:43.513" v="388" actId="1076"/>
          <ac:spMkLst>
            <pc:docMk/>
            <pc:sldMk cId="2804017969" sldId="286"/>
            <ac:spMk id="16" creationId="{11645F92-4C09-2315-B87E-2F20404636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Root</a:t>
            </a:r>
            <a:r>
              <a:rPr lang="en-US" baseline="0" dirty="0"/>
              <a:t> Cause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07-0740-88B2-F8B203FE13F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E07-0740-88B2-F8B203FE13F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E07-0740-88B2-F8B203FE13F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E07-0740-88B2-F8B203FE13FE}"/>
              </c:ext>
            </c:extLst>
          </c:dPt>
          <c:cat>
            <c:strRef>
              <c:f>Sheet1!$A$2:$A$5</c:f>
              <c:strCache>
                <c:ptCount val="4"/>
                <c:pt idx="0">
                  <c:v>Technical Constraints</c:v>
                </c:pt>
                <c:pt idx="1">
                  <c:v>Manufacturer Issues</c:v>
                </c:pt>
                <c:pt idx="2">
                  <c:v>Regulatory Gaps</c:v>
                </c:pt>
                <c:pt idx="3">
                  <c:v>User Ignorance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07-0740-88B2-F8B203FE1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/>
              <a:t>Wearable Devices Growth </a:t>
            </a:r>
            <a:endParaRPr lang="en-IN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(in millions)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929</c:v>
                </c:pt>
                <c:pt idx="1">
                  <c:v>1110</c:v>
                </c:pt>
                <c:pt idx="2">
                  <c:v>1200</c:v>
                </c:pt>
                <c:pt idx="3">
                  <c:v>1300</c:v>
                </c:pt>
                <c:pt idx="4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C-FB45-B00B-BBF78230D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9832639"/>
        <c:axId val="173772287"/>
      </c:barChart>
      <c:catAx>
        <c:axId val="18983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72287"/>
        <c:crosses val="autoZero"/>
        <c:auto val="1"/>
        <c:lblAlgn val="ctr"/>
        <c:lblOffset val="100"/>
        <c:noMultiLvlLbl val="0"/>
      </c:catAx>
      <c:valAx>
        <c:axId val="173772287"/>
        <c:scaling>
          <c:orientation val="minMax"/>
          <c:min val="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u="none" strike="noStrike" baseline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Severity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81-304F-9ABB-24A4A6AFD9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81-304F-9ABB-24A4A6AFD9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81-304F-9ABB-24A4A6AFD903}"/>
              </c:ext>
            </c:extLst>
          </c:dPt>
          <c:cat>
            <c:strRef>
              <c:f>Sheet1!$A$2:$A$4</c:f>
              <c:strCache>
                <c:ptCount val="3"/>
                <c:pt idx="0">
                  <c:v> MITM, Malware, Firmware </c:v>
                </c:pt>
                <c:pt idx="1">
                  <c:v>Eavesdrop, DoS, Spoofing </c:v>
                </c:pt>
                <c:pt idx="2">
                  <c:v>Side-Channel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43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E-6341-9418-834BECCC5A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RSA</a:t>
            </a:r>
            <a:r>
              <a:rPr lang="en-US" baseline="0" dirty="0"/>
              <a:t> vs ECC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RSA Key Size(bits)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112</c:v>
                </c:pt>
                <c:pt idx="2">
                  <c:v>128</c:v>
                </c:pt>
                <c:pt idx="3">
                  <c:v>192</c:v>
                </c:pt>
                <c:pt idx="4">
                  <c:v>256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1024</c:v>
                </c:pt>
                <c:pt idx="1">
                  <c:v>2048</c:v>
                </c:pt>
                <c:pt idx="2">
                  <c:v>3072</c:v>
                </c:pt>
                <c:pt idx="3">
                  <c:v>7680</c:v>
                </c:pt>
                <c:pt idx="4">
                  <c:v>15360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00-F745-9E32-E9DD41CF4C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ECC Key Size(bits)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112</c:v>
                </c:pt>
                <c:pt idx="2">
                  <c:v>128</c:v>
                </c:pt>
                <c:pt idx="3">
                  <c:v>192</c:v>
                </c:pt>
                <c:pt idx="4">
                  <c:v>256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384</c:v>
                </c:pt>
                <c:pt idx="4">
                  <c:v>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00-F745-9E32-E9DD41CF4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045375"/>
        <c:axId val="173692607"/>
      </c:barChart>
      <c:catAx>
        <c:axId val="26045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92607"/>
        <c:crosses val="autoZero"/>
        <c:auto val="1"/>
        <c:lblAlgn val="ctr"/>
        <c:lblOffset val="100"/>
        <c:noMultiLvlLbl val="0"/>
      </c:catAx>
      <c:valAx>
        <c:axId val="173692607"/>
        <c:scaling>
          <c:orientation val="minMax"/>
          <c:max val="16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45375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96455"/>
            <a:ext cx="9142476" cy="1600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199" y="228600"/>
            <a:ext cx="2057400" cy="63398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199" y="228600"/>
            <a:ext cx="2057400" cy="63398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147815" y="0"/>
            <a:ext cx="2996565" cy="838200"/>
          </a:xfrm>
          <a:custGeom>
            <a:avLst/>
            <a:gdLst/>
            <a:ahLst/>
            <a:cxnLst/>
            <a:rect l="l" t="t" r="r" b="b"/>
            <a:pathLst>
              <a:path w="2996565" h="838200">
                <a:moveTo>
                  <a:pt x="2996184" y="0"/>
                </a:moveTo>
                <a:lnTo>
                  <a:pt x="0" y="0"/>
                </a:lnTo>
                <a:lnTo>
                  <a:pt x="0" y="838200"/>
                </a:lnTo>
                <a:lnTo>
                  <a:pt x="2996184" y="838200"/>
                </a:lnTo>
                <a:lnTo>
                  <a:pt x="299618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199" y="228600"/>
            <a:ext cx="2057400" cy="633984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28815" y="188976"/>
            <a:ext cx="2075814" cy="685800"/>
          </a:xfrm>
          <a:custGeom>
            <a:avLst/>
            <a:gdLst/>
            <a:ahLst/>
            <a:cxnLst/>
            <a:rect l="l" t="t" r="r" b="b"/>
            <a:pathLst>
              <a:path w="2075815" h="685800">
                <a:moveTo>
                  <a:pt x="2075687" y="0"/>
                </a:moveTo>
                <a:lnTo>
                  <a:pt x="0" y="0"/>
                </a:lnTo>
                <a:lnTo>
                  <a:pt x="0" y="685800"/>
                </a:lnTo>
                <a:lnTo>
                  <a:pt x="2075687" y="685800"/>
                </a:lnTo>
                <a:lnTo>
                  <a:pt x="2075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7789" y="150063"/>
            <a:ext cx="4161790" cy="51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901" y="1175872"/>
            <a:ext cx="8612505" cy="4657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830" y="824432"/>
            <a:ext cx="5499100" cy="105221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Company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Oriented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 MT"/>
                <a:cs typeface="Arial MT"/>
              </a:rPr>
              <a:t>(COOP)</a:t>
            </a:r>
            <a:endParaRPr sz="1800" dirty="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375"/>
              </a:spcBef>
            </a:pPr>
            <a:r>
              <a:rPr sz="2000" spc="-25" dirty="0">
                <a:latin typeface="Times New Roman"/>
                <a:cs typeface="Times New Roman"/>
              </a:rPr>
              <a:t>O</a:t>
            </a:r>
            <a:r>
              <a:rPr lang="en-US" sz="2000" spc="-25" dirty="0">
                <a:latin typeface="Times New Roman"/>
                <a:cs typeface="Times New Roman"/>
              </a:rPr>
              <a:t>n</a:t>
            </a:r>
          </a:p>
          <a:p>
            <a:pPr marL="635" algn="ctr">
              <a:lnSpc>
                <a:spcPct val="100000"/>
              </a:lnSpc>
              <a:spcBef>
                <a:spcPts val="37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4739" y="1447800"/>
            <a:ext cx="7851852" cy="139910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 rtl="0"/>
            <a:r>
              <a:rPr lang="en-IN" b="1" dirty="0"/>
              <a:t>Security Risks in Wearable IoT Devices</a:t>
            </a:r>
            <a:br>
              <a:rPr lang="en-IN" b="1" dirty="0"/>
            </a:br>
            <a:br>
              <a:rPr lang="en-IN" dirty="0"/>
            </a:br>
            <a:r>
              <a:rPr lang="en-IN" b="1" dirty="0"/>
              <a:t>Authors:</a:t>
            </a:r>
            <a:endParaRPr lang="en-IN" dirty="0"/>
          </a:p>
        </p:txBody>
      </p:sp>
      <p:sp>
        <p:nvSpPr>
          <p:cNvPr id="4" name="object 4"/>
          <p:cNvSpPr txBox="1"/>
          <p:nvPr/>
        </p:nvSpPr>
        <p:spPr>
          <a:xfrm>
            <a:off x="1444877" y="2778519"/>
            <a:ext cx="6251575" cy="3388491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4445" algn="ctr">
              <a:spcBef>
                <a:spcPts val="51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4445" algn="ctr">
              <a:spcBef>
                <a:spcPts val="515"/>
              </a:spcBef>
            </a:pPr>
            <a:r>
              <a:rPr lang="en-US" sz="2000" dirty="0">
                <a:latin typeface="Times New Roman"/>
                <a:cs typeface="Times New Roman"/>
              </a:rPr>
              <a:t>Apoorva(</a:t>
            </a:r>
            <a:r>
              <a:rPr lang="en-IN" sz="2000" spc="-10" dirty="0">
                <a:latin typeface="Times New Roman"/>
                <a:cs typeface="Times New Roman"/>
              </a:rPr>
              <a:t>2210991327), Nandni Singh(2210991960)</a:t>
            </a: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Supervised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endParaRPr sz="2000" dirty="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  <a:spcBef>
                <a:spcPts val="405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Anshu Singla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ct val="114300"/>
              </a:lnSpc>
            </a:pP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Engineering, </a:t>
            </a:r>
            <a:r>
              <a:rPr sz="2400" dirty="0">
                <a:latin typeface="Times New Roman"/>
                <a:cs typeface="Times New Roman"/>
              </a:rPr>
              <a:t>Chitkara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University, Punjab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098F77-57DF-A731-A102-C936CD5E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5562599" cy="369332"/>
          </a:xfrm>
        </p:spPr>
        <p:txBody>
          <a:bodyPr/>
          <a:lstStyle/>
          <a:p>
            <a:pPr algn="ctr" rtl="0"/>
            <a:r>
              <a:rPr lang="en-IN" sz="2400" dirty="0"/>
              <a:t>Introduction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6E8C6-4C2E-68BD-7D2B-37C31FD074AB}"/>
              </a:ext>
            </a:extLst>
          </p:cNvPr>
          <p:cNvSpPr txBox="1"/>
          <p:nvPr/>
        </p:nvSpPr>
        <p:spPr>
          <a:xfrm>
            <a:off x="381000" y="1066800"/>
            <a:ext cx="7696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Focus: </a:t>
            </a:r>
            <a:r>
              <a:rPr lang="en-IN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vulnerabilities in wearable IoT devices and proposing lightweight cryptographic solutions</a:t>
            </a:r>
          </a:p>
          <a:p>
            <a:pPr>
              <a:buNone/>
            </a:pP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Wearable IoT Devices?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Smartwatches, fitness trackers, medical wearables.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sensitive data continuously (biometric, health, location).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Questions: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major security threats?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traditional security measures fail?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lightweight solutions are effective?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D55291-75E1-58E6-398B-1F3B1D75E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300779"/>
              </p:ext>
            </p:extLst>
          </p:nvPr>
        </p:nvGraphicFramePr>
        <p:xfrm>
          <a:off x="1524000" y="39624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760032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360490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1606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Devices(in Millions)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Growth(%)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29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7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+19.5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664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802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6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6760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E4DD35-52D1-2474-0221-65DD65751AB1}"/>
              </a:ext>
            </a:extLst>
          </p:cNvPr>
          <p:cNvSpPr txBox="1"/>
          <p:nvPr/>
        </p:nvSpPr>
        <p:spPr>
          <a:xfrm>
            <a:off x="2270760" y="6187440"/>
            <a:ext cx="460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connected wearable devices worldwide(2021-2025)</a:t>
            </a:r>
            <a:endParaRPr lang="en-IN" sz="12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5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F519-4B43-74F7-EFF0-8C9F76BE5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4161790" cy="395204"/>
          </a:xfrm>
        </p:spPr>
        <p:txBody>
          <a:bodyPr/>
          <a:lstStyle/>
          <a:p>
            <a:pPr algn="ctr" rtl="0"/>
            <a:r>
              <a:rPr lang="en-IN" sz="2400" dirty="0"/>
              <a:t>The Problem &amp; Why It Exists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37F41-1FF3-6E8E-F77B-392B303C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914400"/>
            <a:ext cx="8612505" cy="5816977"/>
          </a:xfrm>
        </p:spPr>
        <p:txBody>
          <a:bodyPr/>
          <a:lstStyle/>
          <a:p>
            <a:pPr rtl="0"/>
            <a:r>
              <a:rPr lang="en-IN" sz="1400" b="1" dirty="0"/>
              <a:t>Key Statistics:</a:t>
            </a:r>
            <a:endParaRPr lang="en-IN" sz="14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107% increase</a:t>
            </a:r>
            <a:r>
              <a:rPr lang="en-IN" sz="1400" dirty="0"/>
              <a:t> in IoT malware attacks (2024)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$4.88M</a:t>
            </a:r>
            <a:r>
              <a:rPr lang="en-IN" sz="1400" dirty="0"/>
              <a:t> average data breach cost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18.5 billion</a:t>
            </a:r>
            <a:r>
              <a:rPr lang="en-IN" sz="1400" dirty="0"/>
              <a:t> IoT devices globally (2024)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rtl="0"/>
            <a:endParaRPr lang="en-IN" sz="1400" dirty="0"/>
          </a:p>
          <a:p>
            <a:pPr rtl="0"/>
            <a:r>
              <a:rPr lang="en-IN" sz="1400" b="1" dirty="0"/>
              <a:t>Why Does This Problem Exist?</a:t>
            </a:r>
          </a:p>
          <a:p>
            <a:pPr rtl="0"/>
            <a:endParaRPr lang="en-IN" sz="1400" dirty="0"/>
          </a:p>
          <a:p>
            <a:pPr rtl="0"/>
            <a:r>
              <a:rPr lang="en-IN" sz="1400" b="1" dirty="0"/>
              <a:t>1. Technical Constraints:</a:t>
            </a:r>
            <a:endParaRPr lang="en-IN" sz="1400" dirty="0"/>
          </a:p>
          <a:p>
            <a:pPr rtl="0"/>
            <a:r>
              <a:rPr lang="en-IN" sz="1400" dirty="0"/>
              <a:t>Limited CPU, memory, battery life</a:t>
            </a:r>
          </a:p>
          <a:p>
            <a:pPr rtl="0"/>
            <a:r>
              <a:rPr lang="en-IN" sz="1400" dirty="0"/>
              <a:t>Cannot run traditional security (AES, RSA too heavy)</a:t>
            </a:r>
          </a:p>
          <a:p>
            <a:pPr rtl="0"/>
            <a:endParaRPr lang="en-IN" sz="1400" dirty="0"/>
          </a:p>
          <a:p>
            <a:pPr rtl="0"/>
            <a:r>
              <a:rPr lang="en-IN" sz="1400" b="1" dirty="0"/>
              <a:t>2. Manufacturer Issues:</a:t>
            </a:r>
            <a:endParaRPr lang="en-IN" sz="1400" dirty="0"/>
          </a:p>
          <a:p>
            <a:pPr rtl="0"/>
            <a:r>
              <a:rPr lang="en-IN" sz="1400" dirty="0"/>
              <a:t>Prioritize speed-to-market over security</a:t>
            </a:r>
          </a:p>
          <a:p>
            <a:pPr rtl="0"/>
            <a:r>
              <a:rPr lang="en-IN" sz="1400" dirty="0"/>
              <a:t>Cost cutting eliminates security features</a:t>
            </a:r>
          </a:p>
          <a:p>
            <a:pPr rtl="0"/>
            <a:r>
              <a:rPr lang="en-IN" sz="1400" dirty="0"/>
              <a:t>Ship devices with known vulnerabilities</a:t>
            </a:r>
          </a:p>
          <a:p>
            <a:pPr rtl="0"/>
            <a:endParaRPr lang="en-IN" sz="1400" dirty="0"/>
          </a:p>
          <a:p>
            <a:pPr rtl="0"/>
            <a:r>
              <a:rPr lang="en-IN" sz="1400" b="1" dirty="0"/>
              <a:t>3. User Issues:</a:t>
            </a:r>
            <a:endParaRPr lang="en-IN" sz="1400" dirty="0"/>
          </a:p>
          <a:p>
            <a:pPr rtl="0"/>
            <a:r>
              <a:rPr lang="en-IN" sz="1400" dirty="0"/>
              <a:t>Unaware of security risks</a:t>
            </a:r>
          </a:p>
          <a:p>
            <a:pPr rtl="0"/>
            <a:r>
              <a:rPr lang="en-IN" sz="1400" dirty="0"/>
              <a:t>Don't change default passwords</a:t>
            </a:r>
          </a:p>
          <a:p>
            <a:pPr rtl="0"/>
            <a:r>
              <a:rPr lang="en-IN" sz="1400" dirty="0"/>
              <a:t>Don't update firmware</a:t>
            </a:r>
          </a:p>
          <a:p>
            <a:pPr rtl="0"/>
            <a:endParaRPr lang="en-IN" sz="1400" dirty="0"/>
          </a:p>
          <a:p>
            <a:pPr rtl="0"/>
            <a:r>
              <a:rPr lang="en-IN" sz="1400" b="1" dirty="0"/>
              <a:t>4. Regulatory Gaps:</a:t>
            </a:r>
            <a:endParaRPr lang="en-IN" sz="1400" dirty="0"/>
          </a:p>
          <a:p>
            <a:pPr rtl="0"/>
            <a:r>
              <a:rPr lang="en-IN" sz="1400" dirty="0"/>
              <a:t>No mandatory security standards</a:t>
            </a:r>
          </a:p>
          <a:p>
            <a:pPr rtl="0"/>
            <a:r>
              <a:rPr lang="en-IN" sz="1400" dirty="0"/>
              <a:t>Weak enforcement</a:t>
            </a:r>
          </a:p>
          <a:p>
            <a:endParaRPr lang="en-US" sz="1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28C314F-AD83-0E9D-AAC1-974CC3B71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061752"/>
              </p:ext>
            </p:extLst>
          </p:nvPr>
        </p:nvGraphicFramePr>
        <p:xfrm>
          <a:off x="5334000" y="1600200"/>
          <a:ext cx="29718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552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61BC-CEF8-1623-5037-17A6045A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DAE11B-E978-B173-9673-80D238DC1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1175872"/>
            <a:ext cx="8612505" cy="4616648"/>
          </a:xfrm>
        </p:spPr>
        <p:txBody>
          <a:bodyPr/>
          <a:lstStyle/>
          <a:p>
            <a:r>
              <a:rPr lang="en-IN" sz="1600" b="1" dirty="0"/>
              <a:t>Market Scale &amp; Urgency:</a:t>
            </a:r>
          </a:p>
          <a:p>
            <a:endParaRPr lang="en-IN" sz="1600" dirty="0"/>
          </a:p>
          <a:p>
            <a:r>
              <a:rPr lang="en-IN" sz="1600" b="1" dirty="0"/>
              <a:t>Critical Vulnerabilities Found:</a:t>
            </a:r>
            <a:endParaRPr lang="en-IN" sz="1600" dirty="0"/>
          </a:p>
          <a:p>
            <a:endParaRPr lang="en-IN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60-70% have weak BLE security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40% use default credentials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30-40% have hard-coded passwords</a:t>
            </a:r>
          </a:p>
          <a:p>
            <a:endParaRPr lang="en-IN" sz="1600" dirty="0"/>
          </a:p>
          <a:p>
            <a:r>
              <a:rPr lang="en-IN" sz="1600" b="1" dirty="0"/>
              <a:t>Why Solutions Are Urgent:</a:t>
            </a:r>
            <a:endParaRPr lang="en-IN" sz="1600" dirty="0"/>
          </a:p>
          <a:p>
            <a:r>
              <a:rPr lang="en-IN" sz="1600" dirty="0"/>
              <a:t>Healthcare data breaches: </a:t>
            </a:r>
            <a:r>
              <a:rPr lang="en-IN" sz="1600" b="1" dirty="0"/>
              <a:t>$10.93M</a:t>
            </a:r>
            <a:r>
              <a:rPr lang="en-IN" sz="1600" dirty="0"/>
              <a:t> average cost</a:t>
            </a:r>
          </a:p>
          <a:p>
            <a:r>
              <a:rPr lang="en-IN" sz="1600" dirty="0"/>
              <a:t>Mirai botnet infected </a:t>
            </a:r>
            <a:r>
              <a:rPr lang="en-IN" sz="1600" b="1" dirty="0"/>
              <a:t>600,000+</a:t>
            </a:r>
            <a:r>
              <a:rPr lang="en-IN" sz="1600" dirty="0"/>
              <a:t> IoT devices</a:t>
            </a:r>
          </a:p>
          <a:p>
            <a:r>
              <a:rPr lang="en-IN" sz="1600" dirty="0"/>
              <a:t>Patient safety at risk with medical wearables</a:t>
            </a:r>
          </a:p>
          <a:p>
            <a:r>
              <a:rPr lang="en-IN" sz="1600" dirty="0"/>
              <a:t>Privacy breach of sensitive biometric data</a:t>
            </a:r>
          </a:p>
          <a:p>
            <a:endParaRPr lang="en-IN" sz="1600" dirty="0"/>
          </a:p>
          <a:p>
            <a:r>
              <a:rPr lang="en-IN" sz="1600" b="1" dirty="0"/>
              <a:t>Economic Impact:</a:t>
            </a:r>
            <a:endParaRPr lang="en-IN" sz="1600" dirty="0"/>
          </a:p>
          <a:p>
            <a:r>
              <a:rPr lang="en-IN" sz="1600" dirty="0"/>
              <a:t>Growing attack frequency (+107% annually)</a:t>
            </a:r>
          </a:p>
          <a:p>
            <a:r>
              <a:rPr lang="en-IN" sz="1600" dirty="0"/>
              <a:t>Rising breach costs</a:t>
            </a:r>
          </a:p>
          <a:p>
            <a:r>
              <a:rPr lang="en-IN" sz="1600" dirty="0"/>
              <a:t>Trust erosion in wearable technology</a:t>
            </a:r>
          </a:p>
          <a:p>
            <a:endParaRPr lang="en-US" sz="12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5C93D18-451B-874C-CD81-DBCA2B93A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312067"/>
              </p:ext>
            </p:extLst>
          </p:nvPr>
        </p:nvGraphicFramePr>
        <p:xfrm>
          <a:off x="4495799" y="1752600"/>
          <a:ext cx="4343299" cy="3929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102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5CE2-969E-C7FB-8347-A58FD812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2846"/>
            <a:ext cx="3432811" cy="369332"/>
          </a:xfrm>
        </p:spPr>
        <p:txBody>
          <a:bodyPr/>
          <a:lstStyle/>
          <a:p>
            <a:pPr algn="ctr"/>
            <a:r>
              <a:rPr lang="en-IN" sz="2400" dirty="0"/>
              <a:t>Which Layers Are at Risk?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7438D8-B68C-6F9E-95D8-E804BFDD997E}"/>
              </a:ext>
            </a:extLst>
          </p:cNvPr>
          <p:cNvSpPr/>
          <p:nvPr/>
        </p:nvSpPr>
        <p:spPr>
          <a:xfrm>
            <a:off x="2762776" y="1066800"/>
            <a:ext cx="3696753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LAYER 4: CLOUD/SERVER                  </a:t>
            </a:r>
          </a:p>
          <a:p>
            <a:pPr algn="ctr"/>
            <a:r>
              <a:rPr lang="en-IN" sz="1600" dirty="0"/>
              <a:t>Components: Storage, Analytics          </a:t>
            </a:r>
          </a:p>
          <a:p>
            <a:pPr algn="ctr"/>
            <a:r>
              <a:rPr lang="en-IN" sz="1600" dirty="0"/>
              <a:t>RISKS: Data Leakage, API Flaws, DDoS</a:t>
            </a:r>
            <a:endParaRPr lang="en-US" sz="1600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E62FBAA0-D446-0466-FEA6-4F2FE87850F8}"/>
              </a:ext>
            </a:extLst>
          </p:cNvPr>
          <p:cNvSpPr/>
          <p:nvPr/>
        </p:nvSpPr>
        <p:spPr>
          <a:xfrm>
            <a:off x="4495800" y="1981200"/>
            <a:ext cx="152400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081023C-24BA-AAD6-E56A-542CEAB3CF57}"/>
              </a:ext>
            </a:extLst>
          </p:cNvPr>
          <p:cNvSpPr/>
          <p:nvPr/>
        </p:nvSpPr>
        <p:spPr>
          <a:xfrm>
            <a:off x="4534952" y="3505200"/>
            <a:ext cx="152400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4F418-9D24-ED00-AFA7-E1D324D299BA}"/>
              </a:ext>
            </a:extLst>
          </p:cNvPr>
          <p:cNvSpPr/>
          <p:nvPr/>
        </p:nvSpPr>
        <p:spPr>
          <a:xfrm>
            <a:off x="2799823" y="2514600"/>
            <a:ext cx="3696753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LAYER 3: GATEWAY (Smartphone)           </a:t>
            </a:r>
          </a:p>
          <a:p>
            <a:pPr algn="ctr"/>
            <a:r>
              <a:rPr lang="en-IN" sz="1600" dirty="0"/>
              <a:t>Components: Companion Apps              </a:t>
            </a:r>
          </a:p>
          <a:p>
            <a:pPr algn="ctr"/>
            <a:r>
              <a:rPr lang="en-IN" sz="1600" dirty="0"/>
              <a:t>RISKS: Malware, Unauthorized Access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8D491-CA12-1D7A-DDAA-056DA8E54B70}"/>
              </a:ext>
            </a:extLst>
          </p:cNvPr>
          <p:cNvSpPr/>
          <p:nvPr/>
        </p:nvSpPr>
        <p:spPr>
          <a:xfrm>
            <a:off x="2799823" y="4038600"/>
            <a:ext cx="3696753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LAYER 2: COMMUNICATION                  Components: BLE, Wi-Fi, NFC </a:t>
            </a:r>
          </a:p>
          <a:p>
            <a:pPr algn="ctr"/>
            <a:r>
              <a:rPr lang="en-IN" sz="1600" dirty="0"/>
              <a:t>RISKS: Eavesdropping, MITM, Spoofing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3831F0-1045-BADA-9139-F43D36961576}"/>
              </a:ext>
            </a:extLst>
          </p:cNvPr>
          <p:cNvSpPr/>
          <p:nvPr/>
        </p:nvSpPr>
        <p:spPr>
          <a:xfrm>
            <a:off x="2838975" y="5503822"/>
            <a:ext cx="3696753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LAYER 1: DEVICE (Wearable)             </a:t>
            </a:r>
          </a:p>
          <a:p>
            <a:pPr algn="ctr"/>
            <a:r>
              <a:rPr lang="en-IN" sz="1600" dirty="0"/>
              <a:t>Components: Sensors, Microcontroller</a:t>
            </a:r>
          </a:p>
          <a:p>
            <a:pPr algn="ctr"/>
            <a:r>
              <a:rPr lang="en-IN" sz="1600" dirty="0"/>
              <a:t>RISKS: Firmware Exploit, Side-Channel</a:t>
            </a:r>
            <a:endParaRPr lang="en-US" sz="1600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130BA098-0AD0-613D-B5EC-C2A63BA005C1}"/>
              </a:ext>
            </a:extLst>
          </p:cNvPr>
          <p:cNvSpPr/>
          <p:nvPr/>
        </p:nvSpPr>
        <p:spPr>
          <a:xfrm>
            <a:off x="4541878" y="4953000"/>
            <a:ext cx="152400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B75CF-F975-F825-AA72-AE32CC33BB2D}"/>
              </a:ext>
            </a:extLst>
          </p:cNvPr>
          <p:cNvSpPr txBox="1"/>
          <p:nvPr/>
        </p:nvSpPr>
        <p:spPr>
          <a:xfrm>
            <a:off x="4650301" y="1985446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(TLS)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E37E8-0A39-F976-86BE-922C405B00F7}"/>
              </a:ext>
            </a:extLst>
          </p:cNvPr>
          <p:cNvSpPr txBox="1"/>
          <p:nvPr/>
        </p:nvSpPr>
        <p:spPr>
          <a:xfrm>
            <a:off x="4697742" y="3522519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BLE/Wi-Fi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45F92-4C09-2315-B87E-2F204046363D}"/>
              </a:ext>
            </a:extLst>
          </p:cNvPr>
          <p:cNvSpPr txBox="1"/>
          <p:nvPr/>
        </p:nvSpPr>
        <p:spPr>
          <a:xfrm>
            <a:off x="4679372" y="4957246"/>
            <a:ext cx="106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01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7156-0F27-0F0F-E51E-046275D8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5259"/>
            <a:ext cx="4161790" cy="369332"/>
          </a:xfrm>
        </p:spPr>
        <p:txBody>
          <a:bodyPr/>
          <a:lstStyle/>
          <a:p>
            <a:pPr algn="ctr" rtl="0"/>
            <a:r>
              <a:rPr lang="en-IN" sz="2400" dirty="0"/>
              <a:t> Key Research Findings</a:t>
            </a: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4ECB-DE95-9936-C777-5C7EC9FC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888727"/>
            <a:ext cx="8612505" cy="635273"/>
          </a:xfrm>
        </p:spPr>
        <p:txBody>
          <a:bodyPr/>
          <a:lstStyle/>
          <a:p>
            <a:pPr rtl="0"/>
            <a:r>
              <a:rPr lang="en-IN" sz="1400" b="1" dirty="0"/>
              <a:t>Risk Assessment:</a:t>
            </a:r>
            <a:r>
              <a:rPr lang="en-IN" sz="1400" dirty="0"/>
              <a:t> R = </a:t>
            </a:r>
            <a:r>
              <a:rPr lang="el-GR" sz="1400" dirty="0"/>
              <a:t>Σ[</a:t>
            </a:r>
            <a:r>
              <a:rPr lang="en-IN" sz="1400" dirty="0"/>
              <a:t>P(T) × V × I].                                 P(T) = Threat probability (</a:t>
            </a:r>
            <a:r>
              <a:rPr lang="en-IN" sz="1400" b="1" dirty="0"/>
              <a:t>↑107%</a:t>
            </a:r>
            <a:r>
              <a:rPr lang="en-IN" sz="1400" dirty="0"/>
              <a:t>)</a:t>
            </a:r>
            <a:br>
              <a:rPr lang="en-IN" sz="1400" dirty="0"/>
            </a:br>
            <a:r>
              <a:rPr lang="en-IN" sz="1400" dirty="0"/>
              <a:t>				              V = Vulnerability level (</a:t>
            </a:r>
            <a:r>
              <a:rPr lang="en-IN" sz="1400" b="1" dirty="0"/>
              <a:t>HIGH</a:t>
            </a:r>
            <a:r>
              <a:rPr lang="en-IN" sz="1400" dirty="0"/>
              <a:t>)  </a:t>
            </a:r>
          </a:p>
          <a:p>
            <a:pPr rtl="0"/>
            <a:r>
              <a:rPr lang="en-IN" sz="1400" dirty="0"/>
              <a:t>				               I = Impact (</a:t>
            </a:r>
            <a:r>
              <a:rPr lang="en-IN" sz="1400" b="1" dirty="0"/>
              <a:t>SEVERE</a:t>
            </a:r>
            <a:r>
              <a:rPr lang="en-IN" sz="1400" dirty="0"/>
              <a:t> - health data)</a:t>
            </a:r>
          </a:p>
          <a:p>
            <a:endParaRPr lang="en-US" sz="1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9B4E23A-C3AF-BCFF-D356-2A9E1FFDE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234764"/>
              </p:ext>
            </p:extLst>
          </p:nvPr>
        </p:nvGraphicFramePr>
        <p:xfrm>
          <a:off x="5334000" y="2172732"/>
          <a:ext cx="3352800" cy="325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ABBFE3-F77A-1F9F-86B4-719E13DA82C6}"/>
              </a:ext>
            </a:extLst>
          </p:cNvPr>
          <p:cNvSpPr txBox="1"/>
          <p:nvPr/>
        </p:nvSpPr>
        <p:spPr>
          <a:xfrm>
            <a:off x="226594" y="1227177"/>
            <a:ext cx="57912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KEY FINDINGS: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Interception Most Prevalent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 vulnerabilities widely exploited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 reveals activities even with encryption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Weak Authentication Widespread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credentials persist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MFA in majority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Resource Constraints Limit Security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encryption too heavy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vs. security trade-off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Lightweight Cryptography Effective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PRESENT, SIMON, SPECK, Ascon work well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 provides efficient asymmetric crypto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Firmware Security Neglected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 don't provide timely patches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Hard-coded credentials common</a:t>
            </a:r>
          </a:p>
          <a:p>
            <a:pPr rt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Multi-Layered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solution addresses all threats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approach needed</a:t>
            </a:r>
          </a:p>
        </p:txBody>
      </p:sp>
    </p:spTree>
    <p:extLst>
      <p:ext uri="{BB962C8B-B14F-4D97-AF65-F5344CB8AC3E}">
        <p14:creationId xmlns:p14="http://schemas.microsoft.com/office/powerpoint/2010/main" val="2323488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D243-6EBA-FE21-0334-42F88D1B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89" y="0"/>
            <a:ext cx="4161790" cy="888727"/>
          </a:xfrm>
        </p:spPr>
        <p:txBody>
          <a:bodyPr/>
          <a:lstStyle/>
          <a:p>
            <a:pPr algn="ctr"/>
            <a:r>
              <a:rPr lang="en-IN" sz="2400" dirty="0"/>
              <a:t>Solutions Offered - Lightweight Cryptography</a:t>
            </a: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B662A-08C9-B92C-706E-97149E53F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1175872"/>
            <a:ext cx="2590699" cy="215444"/>
          </a:xfrm>
        </p:spPr>
        <p:txBody>
          <a:bodyPr/>
          <a:lstStyle/>
          <a:p>
            <a:r>
              <a:rPr lang="en-IN" sz="1400" b="1" dirty="0"/>
              <a:t>Why Lightweight Cryptography?</a:t>
            </a:r>
            <a:r>
              <a:rPr lang="en-IN" sz="1400" dirty="0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28E1DB-4635-5626-CAF5-0E0033985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473319"/>
              </p:ext>
            </p:extLst>
          </p:nvPr>
        </p:nvGraphicFramePr>
        <p:xfrm>
          <a:off x="304800" y="2650157"/>
          <a:ext cx="3723640" cy="1935480"/>
        </p:xfrm>
        <a:graphic>
          <a:graphicData uri="http://schemas.openxmlformats.org/drawingml/2006/table">
            <a:tbl>
              <a:tblPr/>
              <a:tblGrid>
                <a:gridCol w="930910">
                  <a:extLst>
                    <a:ext uri="{9D8B030D-6E8A-4147-A177-3AD203B41FA5}">
                      <a16:colId xmlns:a16="http://schemas.microsoft.com/office/drawing/2014/main" val="1989235038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08460812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3238456103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4243740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Algorithm</a:t>
                      </a:r>
                      <a:endParaRPr lang="en-IN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Key Size</a:t>
                      </a:r>
                      <a:endParaRPr lang="en-IN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Gate Equivalents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Efficiency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464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AES-128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128 bits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3,400 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Baseline (100%)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1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PRESENT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80/128 bits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1,570 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54% lighter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2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SIMON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64-128 bits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1,234 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64% lighter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7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SPECK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64-128 bits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984 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71% lighter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82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Ascon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128 bits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2,570 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NIST 2023 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23949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5A195AB-D0C4-1225-A323-686FECC05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66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F99AEBA-17A1-018C-FD10-32269008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058" y="3748615"/>
            <a:ext cx="42174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8C63D67-8460-8C44-1300-44E32DD606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2181337"/>
              </p:ext>
            </p:extLst>
          </p:nvPr>
        </p:nvGraphicFramePr>
        <p:xfrm>
          <a:off x="4275253" y="1969111"/>
          <a:ext cx="4628298" cy="3518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DA9333-7AA5-1878-CD83-78EAB674F098}"/>
              </a:ext>
            </a:extLst>
          </p:cNvPr>
          <p:cNvSpPr txBox="1"/>
          <p:nvPr/>
        </p:nvSpPr>
        <p:spPr>
          <a:xfrm>
            <a:off x="716915" y="4585637"/>
            <a:ext cx="2899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 Comparison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2B3ADFE-F28F-5ECC-37B7-5077DB62E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49" y="1381780"/>
            <a:ext cx="8663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cryptography is essential in wearable IoT devices because these devices operate under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resource constraints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cannot support traditional heavy security mechanisms.</a:t>
            </a:r>
          </a:p>
        </p:txBody>
      </p:sp>
    </p:spTree>
    <p:extLst>
      <p:ext uri="{BB962C8B-B14F-4D97-AF65-F5344CB8AC3E}">
        <p14:creationId xmlns:p14="http://schemas.microsoft.com/office/powerpoint/2010/main" val="246481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E0A9-C643-2AC8-84F8-3AADECDD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7876"/>
            <a:ext cx="4724400" cy="1107996"/>
          </a:xfrm>
        </p:spPr>
        <p:txBody>
          <a:bodyPr/>
          <a:lstStyle/>
          <a:p>
            <a:pPr algn="ctr" rtl="0"/>
            <a:r>
              <a:rPr lang="en-IN" sz="2400" dirty="0"/>
              <a:t>Authentication &amp; Communication Solutions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80FDE-659E-5408-B4CA-DA1CD048D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584" y="950914"/>
            <a:ext cx="8612505" cy="215444"/>
          </a:xfrm>
        </p:spPr>
        <p:txBody>
          <a:bodyPr/>
          <a:lstStyle/>
          <a:p>
            <a:pPr algn="just"/>
            <a:r>
              <a:rPr lang="en-IN" sz="1400" b="1" dirty="0"/>
              <a:t>AUTHENTICATION MECHANISMS: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B00C19-56AC-2D10-848B-CE8C8CDE3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74688"/>
              </p:ext>
            </p:extLst>
          </p:nvPr>
        </p:nvGraphicFramePr>
        <p:xfrm>
          <a:off x="303199" y="1295400"/>
          <a:ext cx="8612188" cy="1005840"/>
        </p:xfrm>
        <a:graphic>
          <a:graphicData uri="http://schemas.openxmlformats.org/drawingml/2006/table">
            <a:tbl>
              <a:tblPr/>
              <a:tblGrid>
                <a:gridCol w="2153047">
                  <a:extLst>
                    <a:ext uri="{9D8B030D-6E8A-4147-A177-3AD203B41FA5}">
                      <a16:colId xmlns:a16="http://schemas.microsoft.com/office/drawing/2014/main" val="83572868"/>
                    </a:ext>
                  </a:extLst>
                </a:gridCol>
                <a:gridCol w="2153047">
                  <a:extLst>
                    <a:ext uri="{9D8B030D-6E8A-4147-A177-3AD203B41FA5}">
                      <a16:colId xmlns:a16="http://schemas.microsoft.com/office/drawing/2014/main" val="3198651673"/>
                    </a:ext>
                  </a:extLst>
                </a:gridCol>
                <a:gridCol w="2153047">
                  <a:extLst>
                    <a:ext uri="{9D8B030D-6E8A-4147-A177-3AD203B41FA5}">
                      <a16:colId xmlns:a16="http://schemas.microsoft.com/office/drawing/2014/main" val="3275358040"/>
                    </a:ext>
                  </a:extLst>
                </a:gridCol>
                <a:gridCol w="2153047">
                  <a:extLst>
                    <a:ext uri="{9D8B030D-6E8A-4147-A177-3AD203B41FA5}">
                      <a16:colId xmlns:a16="http://schemas.microsoft.com/office/drawing/2014/main" val="2742731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Method</a:t>
                      </a:r>
                      <a:endParaRPr lang="en-IN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Security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Wearable Fit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Notes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44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Password/PIN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Low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⚠️ Weak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Default credentials exploited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21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Multi-Factor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High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✅ Good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99.9% breach reduction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36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Biometric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Very High</a:t>
                      </a:r>
                      <a:endParaRPr lang="en-IN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ysClr val="windowText" lastClr="000000"/>
                          </a:solidFill>
                          <a:effectLst/>
                        </a:rPr>
                        <a:t>✅ </a:t>
                      </a:r>
                      <a:r>
                        <a:rPr lang="en-IN" sz="1400" b="1">
                          <a:solidFill>
                            <a:sysClr val="windowText" lastClr="000000"/>
                          </a:solidFill>
                          <a:effectLst/>
                        </a:rPr>
                        <a:t>Best</a:t>
                      </a:r>
                      <a:endParaRPr lang="en-IN" sz="14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Continuous, hard to fake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29896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9DCE732F-DFA0-2B7D-8E1F-53DE9AABD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01" y="1720067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8BD4F-24C9-6ABC-E497-3FC49B861CFB}"/>
              </a:ext>
            </a:extLst>
          </p:cNvPr>
          <p:cNvSpPr txBox="1"/>
          <p:nvPr/>
        </p:nvSpPr>
        <p:spPr>
          <a:xfrm>
            <a:off x="261298" y="2725907"/>
            <a:ext cx="33201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IN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Authentication:</a:t>
            </a:r>
          </a:p>
          <a:p>
            <a:pPr algn="just" rtl="0">
              <a:buNone/>
            </a:pPr>
            <a:endParaRPr lang="en-IN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4" indent="-285750" algn="just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rate variability</a:t>
            </a:r>
          </a:p>
          <a:p>
            <a:pPr marL="285750" lvl="3" indent="-285750" algn="just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Gait patterns (walking style)</a:t>
            </a:r>
          </a:p>
          <a:p>
            <a:pPr marL="285750" lvl="3" indent="-285750" algn="just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Electrodermal activity</a:t>
            </a:r>
          </a:p>
          <a:p>
            <a:pPr marL="285750" lvl="3" indent="-285750" algn="just" rtl="0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95-98% accuracy	</a:t>
            </a:r>
            <a:endParaRPr lang="en-IN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implicit authentication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endParaRPr lang="en-IN" sz="14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just" rtl="0">
              <a:buNone/>
            </a:pPr>
            <a:r>
              <a:rPr lang="en-IN" sz="1400" b="0" i="0" dirty="0">
                <a:solidFill>
                  <a:schemeClr val="tx1"/>
                </a:solidFill>
                <a:effectLst/>
                <a:latin typeface="-apple-system"/>
              </a:rPr>
              <a:t>           </a:t>
            </a:r>
          </a:p>
          <a:p>
            <a:pPr algn="just" rtl="0">
              <a:buNone/>
            </a:pPr>
            <a:endParaRPr lang="en-IN" sz="14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just" rtl="0">
              <a:buNone/>
            </a:pPr>
            <a:endParaRPr lang="en-IN" sz="14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30D69-17A5-6E78-0F62-A3C579DA7E00}"/>
              </a:ext>
            </a:extLst>
          </p:cNvPr>
          <p:cNvSpPr txBox="1"/>
          <p:nvPr/>
        </p:nvSpPr>
        <p:spPr>
          <a:xfrm>
            <a:off x="3364936" y="2294836"/>
            <a:ext cx="2404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165CD-D89C-15FA-AD2E-ACFE5C109152}"/>
              </a:ext>
            </a:extLst>
          </p:cNvPr>
          <p:cNvSpPr txBox="1"/>
          <p:nvPr/>
        </p:nvSpPr>
        <p:spPr>
          <a:xfrm>
            <a:off x="4648200" y="2725907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PROTOCOLS: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BLE Security Evolution: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BLE 4.0/4.1 (Legacy)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❌ Vulnerable to MITM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❌ Passive eavesdropping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↓ EVOLUTION 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BLE 4.2+ (Secure Connections)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✅ ECDH key exchange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✅ MITM protection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2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1E4B-AFBA-6476-1019-A38B2461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89" y="150063"/>
            <a:ext cx="4161790" cy="430887"/>
          </a:xfrm>
        </p:spPr>
        <p:txBody>
          <a:bodyPr/>
          <a:lstStyle/>
          <a:p>
            <a:pPr algn="ctr"/>
            <a:r>
              <a:rPr lang="en-IN" sz="2800" dirty="0"/>
              <a:t>Security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9A445-F9F1-3CCA-6094-F93EE093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1175872"/>
            <a:ext cx="8612505" cy="4924425"/>
          </a:xfrm>
        </p:spPr>
        <p:txBody>
          <a:bodyPr/>
          <a:lstStyle/>
          <a:p>
            <a:r>
              <a:rPr lang="en-IN" sz="1600" b="1" dirty="0"/>
              <a:t>Lightweight Cryptographic Algorithms:</a:t>
            </a:r>
            <a:endParaRPr lang="en-IN" sz="1600" dirty="0"/>
          </a:p>
          <a:p>
            <a:r>
              <a:rPr lang="en-IN" sz="1600" dirty="0"/>
              <a:t>- PRESENT, SIMON, SPECK, Ascon</a:t>
            </a:r>
          </a:p>
          <a:p>
            <a:r>
              <a:rPr lang="en-IN" sz="1600" dirty="0"/>
              <a:t>- Designed for resource-constrained devices</a:t>
            </a:r>
          </a:p>
          <a:p>
            <a:endParaRPr lang="en-IN" sz="1600" dirty="0"/>
          </a:p>
          <a:p>
            <a:r>
              <a:rPr lang="en-IN" sz="1600" b="1" dirty="0"/>
              <a:t>Other Security Measures:</a:t>
            </a:r>
            <a:endParaRPr lang="en-IN" sz="1600" dirty="0"/>
          </a:p>
          <a:p>
            <a:r>
              <a:rPr lang="en-IN" sz="1600" dirty="0"/>
              <a:t>- </a:t>
            </a:r>
            <a:r>
              <a:rPr lang="en-IN" sz="1600" b="1" dirty="0"/>
              <a:t>Elliptic Curve Cryptography (ECC):</a:t>
            </a:r>
            <a:r>
              <a:rPr lang="en-IN" sz="1600" dirty="0"/>
              <a:t> Efficient public-key encryption</a:t>
            </a:r>
          </a:p>
          <a:p>
            <a:r>
              <a:rPr lang="en-IN" sz="1600" dirty="0"/>
              <a:t>- </a:t>
            </a:r>
            <a:r>
              <a:rPr lang="en-IN" sz="1600" b="1" dirty="0"/>
              <a:t>Multi-Factor Authentication (MFA):</a:t>
            </a:r>
            <a:r>
              <a:rPr lang="en-IN" sz="1600" dirty="0"/>
              <a:t> Combining passwords with biometrics</a:t>
            </a:r>
          </a:p>
          <a:p>
            <a:r>
              <a:rPr lang="en-IN" sz="1600" dirty="0"/>
              <a:t>- </a:t>
            </a:r>
            <a:r>
              <a:rPr lang="en-IN" sz="1600" b="1" dirty="0"/>
              <a:t>Biometric Authentication:</a:t>
            </a:r>
            <a:r>
              <a:rPr lang="en-IN" sz="1600" dirty="0"/>
              <a:t> Fingerprint, heart rate patterns</a:t>
            </a:r>
          </a:p>
          <a:p>
            <a:r>
              <a:rPr lang="en-IN" sz="1600" dirty="0"/>
              <a:t>- </a:t>
            </a:r>
            <a:r>
              <a:rPr lang="en-IN" sz="1600" b="1" dirty="0"/>
              <a:t>Secure Pairing Protocols:</a:t>
            </a:r>
            <a:r>
              <a:rPr lang="en-IN" sz="1600" dirty="0"/>
              <a:t> Certificate-based authentication</a:t>
            </a:r>
          </a:p>
          <a:p>
            <a:br>
              <a:rPr lang="en-IN" sz="1600" b="1" dirty="0"/>
            </a:br>
            <a:r>
              <a:rPr lang="en-IN" sz="1600" b="1" dirty="0"/>
              <a:t>Secure Communication Protocols:</a:t>
            </a:r>
            <a:endParaRPr lang="en-IN" sz="1600" dirty="0"/>
          </a:p>
          <a:p>
            <a:r>
              <a:rPr lang="en-IN" sz="1600" dirty="0"/>
              <a:t>- </a:t>
            </a:r>
            <a:r>
              <a:rPr lang="en-IN" sz="1600" b="1" dirty="0"/>
              <a:t>BLE Secure Connections:</a:t>
            </a:r>
            <a:r>
              <a:rPr lang="en-IN" sz="1600" dirty="0"/>
              <a:t> Bluetooth Low Energy security</a:t>
            </a:r>
          </a:p>
          <a:p>
            <a:r>
              <a:rPr lang="en-IN" sz="1600" dirty="0"/>
              <a:t>- </a:t>
            </a:r>
            <a:r>
              <a:rPr lang="en-IN" sz="1600" b="1" dirty="0"/>
              <a:t>CoAP with DTLS:</a:t>
            </a:r>
            <a:r>
              <a:rPr lang="en-IN" sz="1600" dirty="0"/>
              <a:t> Constrained Application Protocol with security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Infrastructure Security:</a:t>
            </a:r>
            <a:endParaRPr lang="en-IN" sz="1600" dirty="0"/>
          </a:p>
          <a:p>
            <a:r>
              <a:rPr lang="en-IN" sz="1600" dirty="0"/>
              <a:t>- </a:t>
            </a:r>
            <a:r>
              <a:rPr lang="en-IN" sz="1600" b="1" dirty="0"/>
              <a:t>Regular Firmware Updates:</a:t>
            </a:r>
            <a:r>
              <a:rPr lang="en-IN" sz="1600" dirty="0"/>
              <a:t> Patching vulnerabilities promptly</a:t>
            </a:r>
          </a:p>
          <a:p>
            <a:r>
              <a:rPr lang="en-IN" sz="1600" dirty="0"/>
              <a:t>- </a:t>
            </a:r>
            <a:r>
              <a:rPr lang="en-IN" sz="1600" b="1" dirty="0"/>
              <a:t>Secure Boot Mechanisms:</a:t>
            </a:r>
            <a:r>
              <a:rPr lang="en-IN" sz="1600" dirty="0"/>
              <a:t> Ensuring device integrity at startup</a:t>
            </a:r>
          </a:p>
          <a:p>
            <a:r>
              <a:rPr lang="en-IN" sz="1600" dirty="0"/>
              <a:t>- </a:t>
            </a:r>
            <a:r>
              <a:rPr lang="en-IN" sz="1600" b="1" dirty="0"/>
              <a:t>Network Segmentation:</a:t>
            </a:r>
            <a:r>
              <a:rPr lang="en-IN" sz="1600" dirty="0"/>
              <a:t> Isolating wearable devices from critical systems</a:t>
            </a:r>
          </a:p>
          <a:p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5614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3C43-1638-FE80-B50B-C0C0F80F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0063"/>
            <a:ext cx="5562599" cy="611937"/>
          </a:xfrm>
        </p:spPr>
        <p:txBody>
          <a:bodyPr/>
          <a:lstStyle/>
          <a:p>
            <a:pPr algn="ctr" rtl="0"/>
            <a:r>
              <a:rPr lang="en-IN" sz="2400" dirty="0"/>
              <a:t> Future Directions &amp; Recommendations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528C2-F17C-D056-437F-A6F1EE6DD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901" y="914401"/>
            <a:ext cx="8612505" cy="5170646"/>
          </a:xfrm>
        </p:spPr>
        <p:txBody>
          <a:bodyPr/>
          <a:lstStyle/>
          <a:p>
            <a:r>
              <a:rPr lang="en-IN" sz="1600" b="1" dirty="0"/>
              <a:t>EMERGING TECHNOLOGIES:</a:t>
            </a:r>
          </a:p>
          <a:p>
            <a:endParaRPr lang="en-IN" sz="1600" b="1" dirty="0"/>
          </a:p>
          <a:p>
            <a:r>
              <a:rPr lang="en-IN" sz="1600" dirty="0"/>
              <a:t>Wearable IoT security is continuously evolving, and emerging technologies are playing a crucial role in addressing current limitations. The following innovations are expected to significantly enhance security, privacy, and resilience in wearable ecosystems:</a:t>
            </a:r>
          </a:p>
          <a:p>
            <a:endParaRPr lang="en-US" sz="1600" dirty="0"/>
          </a:p>
          <a:p>
            <a:r>
              <a:rPr lang="en-US" sz="1600" b="1" dirty="0"/>
              <a:t>1. Blockchain                       </a:t>
            </a:r>
          </a:p>
          <a:p>
            <a:r>
              <a:rPr lang="en-US" sz="1600" dirty="0"/>
              <a:t> • Decentralized authentication  </a:t>
            </a:r>
          </a:p>
          <a:p>
            <a:r>
              <a:rPr lang="en-US" sz="1600" dirty="0"/>
              <a:t> • Immutable audit logs  </a:t>
            </a:r>
          </a:p>
          <a:p>
            <a:r>
              <a:rPr lang="en-US" sz="1600" dirty="0"/>
              <a:t>            </a:t>
            </a:r>
          </a:p>
          <a:p>
            <a:r>
              <a:rPr lang="en-US" sz="1600" b="1" dirty="0"/>
              <a:t>2. AI &amp; Machine Learning            </a:t>
            </a:r>
          </a:p>
          <a:p>
            <a:r>
              <a:rPr lang="en-US" sz="1600" dirty="0"/>
              <a:t>• Real-time anomaly detection     </a:t>
            </a:r>
          </a:p>
          <a:p>
            <a:r>
              <a:rPr lang="en-US" sz="1600" dirty="0"/>
              <a:t>• 98%+ threat accuracy   </a:t>
            </a:r>
          </a:p>
          <a:p>
            <a:r>
              <a:rPr lang="en-US" sz="1600" dirty="0"/>
              <a:t>      </a:t>
            </a:r>
          </a:p>
          <a:p>
            <a:r>
              <a:rPr lang="en-US" sz="1600" b="1" dirty="0"/>
              <a:t>3. Secure Hardware                  </a:t>
            </a:r>
          </a:p>
          <a:p>
            <a:r>
              <a:rPr lang="en-US" sz="1600" dirty="0"/>
              <a:t>• TPM, PUF modules                  </a:t>
            </a:r>
          </a:p>
          <a:p>
            <a:r>
              <a:rPr lang="en-US" sz="1600" dirty="0"/>
              <a:t>• Hardware key protection     </a:t>
            </a:r>
          </a:p>
          <a:p>
            <a:r>
              <a:rPr lang="en-US" sz="1600" dirty="0"/>
              <a:t>      </a:t>
            </a:r>
          </a:p>
          <a:p>
            <a:r>
              <a:rPr lang="en-US" sz="1600" b="1" dirty="0"/>
              <a:t>4. Post-Quantum Cryptography      </a:t>
            </a:r>
          </a:p>
          <a:p>
            <a:r>
              <a:rPr lang="en-US" sz="1600" dirty="0"/>
              <a:t>• Future-proof security             </a:t>
            </a:r>
          </a:p>
          <a:p>
            <a:r>
              <a:rPr lang="en-US" sz="1600" dirty="0"/>
              <a:t>• Quantum-resistant algorithms      </a:t>
            </a:r>
          </a:p>
        </p:txBody>
      </p:sp>
    </p:spTree>
    <p:extLst>
      <p:ext uri="{BB962C8B-B14F-4D97-AF65-F5344CB8AC3E}">
        <p14:creationId xmlns:p14="http://schemas.microsoft.com/office/powerpoint/2010/main" val="89503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98BC-21FA-34CC-A67D-1F6D0B7E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6374"/>
            <a:ext cx="4161790" cy="475626"/>
          </a:xfrm>
        </p:spPr>
        <p:txBody>
          <a:bodyPr/>
          <a:lstStyle/>
          <a:p>
            <a:pPr algn="ctr" rtl="0"/>
            <a:r>
              <a:rPr lang="en-IN" sz="2400" dirty="0"/>
              <a:t> Conclusion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EB233-3A12-1564-3F62-83FDF2277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747" y="1143000"/>
            <a:ext cx="8573453" cy="5029200"/>
          </a:xfrm>
        </p:spPr>
        <p:txBody>
          <a:bodyPr/>
          <a:lstStyle/>
          <a:p>
            <a:pPr rtl="0"/>
            <a:r>
              <a:rPr lang="en-IN" sz="1600" b="1" dirty="0"/>
              <a:t>The Challenge:</a:t>
            </a:r>
            <a:endParaRPr lang="en-IN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1.4B wearable devices by 2025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107% increase in attacks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/>
              <a:t>$4.88M average breach cost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rtl="0"/>
            <a:r>
              <a:rPr lang="en-US" sz="1600" b="1" dirty="0"/>
              <a:t>Key Takeaways: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Wearable IoT devices face significant security challenges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Lightweight security solutions are essential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Multi-layered approach combining encryption, authentication, and secure protocols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Emerging technologies (blockchain, AI, secure hardware) show promise</a:t>
            </a:r>
          </a:p>
          <a:p>
            <a:pPr rtl="0"/>
            <a:endParaRPr lang="en-US" sz="1600" b="1" dirty="0"/>
          </a:p>
          <a:p>
            <a:pPr rtl="0"/>
            <a:r>
              <a:rPr lang="en-US" sz="1600" b="1" dirty="0"/>
              <a:t>Future Outlook: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Security is not optional—it's fundamental to user trust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Continuous innovation needed to stay ahead of threats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/>
              <a:t> Industry-wide collaboration crucial for secure wearable IoT ecosystems</a:t>
            </a:r>
          </a:p>
        </p:txBody>
      </p:sp>
    </p:spTree>
    <p:extLst>
      <p:ext uri="{BB962C8B-B14F-4D97-AF65-F5344CB8AC3E}">
        <p14:creationId xmlns:p14="http://schemas.microsoft.com/office/powerpoint/2010/main" val="331545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E8EC-DF15-7106-3953-39E5581F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67788" y="2662535"/>
            <a:ext cx="5795011" cy="923330"/>
          </a:xfrm>
        </p:spPr>
        <p:txBody>
          <a:bodyPr/>
          <a:lstStyle/>
          <a:p>
            <a:pPr algn="ctr"/>
            <a:r>
              <a:rPr lang="en-US" sz="60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53015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ca0b373-e9b1-4578-8e53-53d6aaa79771}" enabled="1" method="Standard" siteId="{f9465cb1-7889-4d9a-b552-fdd0addf0eb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10357</TotalTime>
  <Words>1093</Words>
  <Application>Microsoft Macintosh PowerPoint</Application>
  <PresentationFormat>On-screen Show (4:3)</PresentationFormat>
  <Paragraphs>255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-apple-system</vt:lpstr>
      <vt:lpstr>Arial</vt:lpstr>
      <vt:lpstr>Arial MT</vt:lpstr>
      <vt:lpstr>Calibri</vt:lpstr>
      <vt:lpstr>Times New Roman</vt:lpstr>
      <vt:lpstr>Office Theme</vt:lpstr>
      <vt:lpstr>Security Risks in Wearable IoT Devices  Authors:</vt:lpstr>
      <vt:lpstr>Introduction</vt:lpstr>
      <vt:lpstr>The Problem &amp; Why It Exists </vt:lpstr>
      <vt:lpstr>PowerPoint Presentation</vt:lpstr>
      <vt:lpstr>Which Layers Are at Risk?</vt:lpstr>
      <vt:lpstr> Key Research Findings</vt:lpstr>
      <vt:lpstr>Solutions Offered - Lightweight Cryptography</vt:lpstr>
      <vt:lpstr>Authentication &amp; Communication Solutions </vt:lpstr>
      <vt:lpstr>Security Solutions</vt:lpstr>
      <vt:lpstr> Future Directions &amp; Recommendations </vt:lpstr>
      <vt:lpstr> Conclusion 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Apoorva Jindal</cp:lastModifiedBy>
  <cp:revision>12</cp:revision>
  <dcterms:created xsi:type="dcterms:W3CDTF">2025-09-29T07:10:01Z</dcterms:created>
  <dcterms:modified xsi:type="dcterms:W3CDTF">2026-03-25T22:42:45Z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2025-09-29T00:00:00Z</vt:filetime>
  </property>
  <property fmtid="{D5CDD505-2E9C-101B-9397-08002B2CF9AE}" pid="5" name="Producer">
    <vt:lpwstr>www.ilovepdf.com</vt:lpwstr>
  </property>
</Properties>
</file>